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" y="2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679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47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42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09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2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1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7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16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8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8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7ED6829-F9B2-4E79-8DF2-D23F4CEADE1A}" type="datetimeFigureOut">
              <a:rPr lang="en-US" smtClean="0"/>
              <a:t>4/14/2021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AB7F07A-104E-4546-9DA4-3A84ADD98B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19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764AD-1321-44B7-854C-B5600872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Interna struktura i organizacija indeksa kod </a:t>
            </a:r>
            <a:r>
              <a:rPr lang="sr-Latn-RS" noProof="1"/>
              <a:t>MySQL-a</a:t>
            </a:r>
            <a:br>
              <a:rPr lang="sr-Latn-RS" dirty="0"/>
            </a:br>
            <a:endParaRPr lang="sr-Latn-R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CBA1D-EA99-4D1E-A564-B82CB9EFE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Mirjana </a:t>
            </a:r>
            <a:r>
              <a:rPr lang="sr-Latn-RS" dirty="0"/>
              <a:t>Živković</a:t>
            </a:r>
          </a:p>
          <a:p>
            <a:pPr algn="r"/>
            <a:r>
              <a:rPr lang="sr-Latn-RS" dirty="0"/>
              <a:t>Broj indeksa: 1274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80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1C9CC-169D-470C-A70B-7561EE28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sr-Latn-RS" dirty="0"/>
              <a:t>UVOD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5974E-492F-4E42-A7E4-A0CD9AF40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r>
              <a:rPr lang="sr-Latn-RS" dirty="0"/>
              <a:t>Baza podataka – struktuirana kolekcija podataka -&gt; potreban sistem za upravljanje bazama podataka</a:t>
            </a:r>
          </a:p>
          <a:p>
            <a:r>
              <a:rPr lang="sr-Latn-RS" dirty="0"/>
              <a:t>MySQL je</a:t>
            </a:r>
          </a:p>
          <a:p>
            <a:pPr lvl="1"/>
            <a:r>
              <a:rPr lang="sr-Latn-RS" dirty="0"/>
              <a:t>Brz</a:t>
            </a:r>
          </a:p>
          <a:p>
            <a:pPr lvl="1"/>
            <a:r>
              <a:rPr lang="sr-Latn-RS" dirty="0"/>
              <a:t>Multithread</a:t>
            </a:r>
          </a:p>
          <a:p>
            <a:pPr lvl="1"/>
            <a:r>
              <a:rPr lang="sr-Latn-RS" dirty="0"/>
              <a:t>Višekorisnički</a:t>
            </a:r>
          </a:p>
          <a:p>
            <a:pPr lvl="1"/>
            <a:r>
              <a:rPr lang="sr-Latn-RS" dirty="0"/>
              <a:t>Robustan</a:t>
            </a:r>
          </a:p>
          <a:p>
            <a:r>
              <a:rPr lang="sr-Latn-RS" dirty="0"/>
              <a:t>Potreba za indeksima -&gt; brži pristup podacima</a:t>
            </a:r>
          </a:p>
          <a:p>
            <a:pPr lvl="1"/>
            <a:endParaRPr lang="sr-Latn-R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51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80D6D-3CD1-4CBB-894E-D22A2675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sr-Latn-RS" dirty="0"/>
              <a:t>Kako MySQL koristi indekse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9880-BABB-43E0-B0F7-49D6082B9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558145"/>
          </a:xfrm>
        </p:spPr>
        <p:txBody>
          <a:bodyPr>
            <a:normAutofit/>
          </a:bodyPr>
          <a:lstStyle/>
          <a:p>
            <a:r>
              <a:rPr lang="sr-Latn-RS" sz="1400" dirty="0"/>
              <a:t>Benefiti indeksa</a:t>
            </a:r>
          </a:p>
          <a:p>
            <a:pPr lvl="1"/>
            <a:r>
              <a:rPr lang="sr-Latn-RS" sz="1400" dirty="0"/>
              <a:t>Brzo nalaženje redova iz WHERE klauzule</a:t>
            </a:r>
          </a:p>
          <a:p>
            <a:pPr lvl="1"/>
            <a:r>
              <a:rPr lang="sr-Latn-RS" sz="1400" dirty="0"/>
              <a:t>Eliminacija redova koje nećemo da pretražujemo</a:t>
            </a:r>
          </a:p>
          <a:p>
            <a:pPr lvl="1"/>
            <a:r>
              <a:rPr lang="sr-Latn-RS" sz="1400" dirty="0"/>
              <a:t>Optimizacija uz kompozitne indekse</a:t>
            </a:r>
          </a:p>
          <a:p>
            <a:pPr lvl="1"/>
            <a:r>
              <a:rPr lang="sr-Latn-RS" sz="1400" dirty="0"/>
              <a:t>Sortiranje i grupisanje tabela</a:t>
            </a:r>
          </a:p>
          <a:p>
            <a:r>
              <a:rPr lang="sr-Latn-RS" sz="1400" dirty="0"/>
              <a:t>Tipovi indeksa</a:t>
            </a:r>
          </a:p>
          <a:p>
            <a:pPr marL="502920" lvl="1" indent="-228600">
              <a:buFont typeface="+mj-lt"/>
              <a:buAutoNum type="arabicPeriod"/>
            </a:pPr>
            <a:r>
              <a:rPr lang="sr-Latn-RS" sz="1400" dirty="0"/>
              <a:t>Primarni </a:t>
            </a:r>
          </a:p>
          <a:p>
            <a:pPr marL="502920" lvl="1" indent="-228600">
              <a:buFont typeface="+mj-lt"/>
              <a:buAutoNum type="arabicPeriod"/>
            </a:pPr>
            <a:r>
              <a:rPr lang="sr-Latn-RS" sz="1400" dirty="0"/>
              <a:t>Sekundarni</a:t>
            </a:r>
          </a:p>
          <a:p>
            <a:r>
              <a:rPr lang="sr-Latn-RS" sz="1400" dirty="0"/>
              <a:t>INDEX, PRIMARY KEY, UNIQUE, SPATIAL, FULLTEXT</a:t>
            </a:r>
          </a:p>
          <a:p>
            <a:r>
              <a:rPr lang="sr-Latn-RS" sz="1400" dirty="0"/>
              <a:t>Kompozitni indeksi</a:t>
            </a:r>
          </a:p>
          <a:p>
            <a:r>
              <a:rPr lang="sr-Latn-RS" sz="1400" dirty="0"/>
              <a:t>BTREE ili HASH</a:t>
            </a:r>
          </a:p>
          <a:p>
            <a:r>
              <a:rPr lang="sr-Latn-RS" sz="1400" dirty="0"/>
              <a:t>INVISIBLE</a:t>
            </a:r>
          </a:p>
          <a:p>
            <a:r>
              <a:rPr lang="sr-Latn-RS" sz="1400" dirty="0"/>
              <a:t>Opadajući indeksi</a:t>
            </a:r>
            <a:br>
              <a:rPr lang="sr-Latn-RS" sz="1100" dirty="0"/>
            </a:br>
            <a:r>
              <a:rPr lang="sr-Latn-RS" sz="1100" dirty="0"/>
              <a:t>	</a:t>
            </a:r>
          </a:p>
          <a:p>
            <a:pPr lvl="1"/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82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9B63-84B0-4BD0-8BF2-4B344F04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3" y="365760"/>
            <a:ext cx="6111914" cy="1558574"/>
          </a:xfrm>
        </p:spPr>
        <p:txBody>
          <a:bodyPr>
            <a:normAutofit/>
          </a:bodyPr>
          <a:lstStyle/>
          <a:p>
            <a:r>
              <a:rPr lang="sr-Latn-RS" dirty="0"/>
              <a:t>B-stabla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AD7B68-5E5B-4BB7-9E7A-4D13699F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03" y="2201308"/>
            <a:ext cx="6272783" cy="3978829"/>
          </a:xfrm>
        </p:spPr>
        <p:txBody>
          <a:bodyPr>
            <a:normAutofit/>
          </a:bodyPr>
          <a:lstStyle/>
          <a:p>
            <a:r>
              <a:rPr lang="sr-Latn-RS" dirty="0"/>
              <a:t>Sama se balansiraju</a:t>
            </a:r>
          </a:p>
          <a:p>
            <a:r>
              <a:rPr lang="sr-Latn-RS" dirty="0"/>
              <a:t>Održavaju sortiranost</a:t>
            </a:r>
          </a:p>
          <a:p>
            <a:r>
              <a:rPr lang="sr-Latn-RS" dirty="0"/>
              <a:t>Operacije za logaritamsko vreme</a:t>
            </a:r>
          </a:p>
          <a:p>
            <a:r>
              <a:rPr lang="sr-Latn-RS" dirty="0"/>
              <a:t>Varijanta u MySQL-u -&gt; B+ stablo (iako piše da je BTREE)</a:t>
            </a:r>
          </a:p>
          <a:p>
            <a:r>
              <a:rPr lang="sr-Latn-RS" dirty="0"/>
              <a:t>Razlika: Čvorovi listovi su međusobno povezani </a:t>
            </a:r>
          </a:p>
          <a:p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7E013D-0DE5-4A1E-B229-8063BAAE9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0960" y="-2811"/>
            <a:ext cx="3601880" cy="68608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D12BB6D-3805-41DD-AA56-8B361F0B47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008471" y="619652"/>
            <a:ext cx="2968122" cy="1283712"/>
          </a:xfrm>
          <a:prstGeom prst="rect">
            <a:avLst/>
          </a:prstGeom>
        </p:spPr>
      </p:pic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E35121DB-7981-4FA6-8784-8AFE8C90426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8470" y="2948698"/>
            <a:ext cx="2968123" cy="979480"/>
          </a:xfrm>
          <a:prstGeom prst="rect">
            <a:avLst/>
          </a:prstGeom>
          <a:noFill/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3BDCBB2-6333-40EB-83BA-ACF3028A75E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08470" y="5320584"/>
            <a:ext cx="2968123" cy="55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9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2DD8-32F6-45EE-B20F-C91CC3AB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sr-Latn-RS" sz="2800" dirty="0">
                <a:solidFill>
                  <a:srgbClr val="FFFFFF"/>
                </a:solidFill>
              </a:rPr>
              <a:t>Index, 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sr-Latn-RS" sz="2800" dirty="0">
                <a:solidFill>
                  <a:srgbClr val="FFFFFF"/>
                </a:solidFill>
              </a:rPr>
              <a:t>unique, 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sr-Latn-RS" sz="2800" dirty="0">
                <a:solidFill>
                  <a:srgbClr val="FFFFFF"/>
                </a:solidFill>
              </a:rPr>
              <a:t>primary key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DDFD-3C51-4F9B-9319-B62C189D0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Index</a:t>
            </a:r>
            <a:r>
              <a:rPr lang="en-US" sz="2400" dirty="0"/>
              <a:t> – standardni indeks	</a:t>
            </a:r>
          </a:p>
          <a:p>
            <a:pPr lvl="1"/>
            <a:r>
              <a:rPr lang="sr-Latn-RS" sz="2200" dirty="0"/>
              <a:t>nad kolonom koja će se često koristiti u upitima</a:t>
            </a:r>
          </a:p>
          <a:p>
            <a:pPr lvl="1"/>
            <a:endParaRPr lang="sr-Latn-RS" sz="2200" dirty="0"/>
          </a:p>
          <a:p>
            <a:pPr lvl="1"/>
            <a:endParaRPr lang="sr-Latn-RS" sz="2200" dirty="0"/>
          </a:p>
          <a:p>
            <a:pPr lvl="1"/>
            <a:r>
              <a:rPr lang="sr-Latn-RS" sz="2200" dirty="0"/>
              <a:t>InnoDB proširuje sekundarni indeks -&gt; (actor_id, last_name)</a:t>
            </a:r>
          </a:p>
          <a:p>
            <a:r>
              <a:rPr lang="sr-Latn-RS" sz="2400" b="1" dirty="0"/>
              <a:t>Unique </a:t>
            </a:r>
            <a:r>
              <a:rPr lang="sr-Latn-RS" sz="2400" dirty="0"/>
              <a:t>– dodaje ograničenje (jedinstveni podaci) – integritet podataka	</a:t>
            </a:r>
          </a:p>
          <a:p>
            <a:pPr lvl="1"/>
            <a:r>
              <a:rPr lang="sr-Latn-RS" sz="2200" dirty="0"/>
              <a:t>Ako je unique + not null + samo jedna integer kolona, možemo da koristimo _rowid u upitima		</a:t>
            </a:r>
          </a:p>
          <a:p>
            <a:r>
              <a:rPr lang="sr-Latn-RS" sz="2400" b="1" dirty="0"/>
              <a:t>Primary key – </a:t>
            </a:r>
            <a:r>
              <a:rPr lang="sr-Latn-RS" sz="2400" dirty="0"/>
              <a:t>identifikuje svaku tabelu</a:t>
            </a:r>
          </a:p>
          <a:p>
            <a:pPr lvl="1"/>
            <a:r>
              <a:rPr lang="sr-Latn-RS" sz="2200" dirty="0"/>
              <a:t>Primary key ≠ primary index	</a:t>
            </a:r>
            <a:r>
              <a:rPr lang="sr-Latn-RS" sz="2000" dirty="0"/>
              <a:t>	</a:t>
            </a:r>
          </a:p>
          <a:p>
            <a:pPr marL="274320" lvl="1" indent="0">
              <a:buNone/>
            </a:pPr>
            <a:br>
              <a:rPr lang="sr-Latn-RS" sz="2200" b="1" dirty="0"/>
            </a:br>
            <a:endParaRPr lang="sr-Latn-R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55B69-B5A0-4CB4-9F30-38ED99C090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31133" y="1658793"/>
            <a:ext cx="5610225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63ADBB-17DD-4543-99E4-8D4176E9C66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2820" y="2089679"/>
            <a:ext cx="4100641" cy="6402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ECEB1F-18DB-42F8-B025-C47B7C64DB7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20" y="3106738"/>
            <a:ext cx="4100641" cy="741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8CA94A-9675-41E5-93F3-9E22E8DFB644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20" y="4128031"/>
            <a:ext cx="4100642" cy="790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70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BF6C-801D-46F1-815E-C28BFEBB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Full-Text indeks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B18F-9C38-432D-B4CB-400290A44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Samo u InnoDB i MyISAM tabelama</a:t>
            </a:r>
          </a:p>
          <a:p>
            <a:r>
              <a:rPr lang="sr-Latn-RS" dirty="0"/>
              <a:t>Samo CHAR, VARCHAR, TEXT kolone</a:t>
            </a:r>
          </a:p>
          <a:p>
            <a:r>
              <a:rPr lang="sr-Latn-RS" dirty="0"/>
              <a:t>Ne podržava prefikse</a:t>
            </a:r>
          </a:p>
          <a:p>
            <a:r>
              <a:rPr lang="sr-Latn-RS" dirty="0"/>
              <a:t>Posebne funkcije za pretragu </a:t>
            </a:r>
            <a:r>
              <a:rPr lang="sr-Latn-R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MATCH() … AGAINST sintaksa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015BD-987D-4B9D-9129-B2D452AC30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80612" y="3938356"/>
            <a:ext cx="5943600" cy="142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C44-8ADE-4385-854C-3654B3C5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12006"/>
          </a:xfrm>
        </p:spPr>
        <p:txBody>
          <a:bodyPr/>
          <a:lstStyle/>
          <a:p>
            <a:r>
              <a:rPr lang="sr-Latn-RS" dirty="0"/>
              <a:t>Full-text u InnoDB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F8A90-96FC-4E1B-B9AD-D88C6C7BD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857" y="1177766"/>
            <a:ext cx="8595360" cy="4946649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Indeksi dizajnirani kao invertovani indeksi – lista reči + lista dokumenata u kojima se reč nalazi + pozicija svake reči kao byte offset</a:t>
            </a:r>
          </a:p>
          <a:p>
            <a:r>
              <a:rPr lang="sr-Latn-RS" dirty="0"/>
              <a:t>Kreiraju se pomoćne tabele od 1 do 6</a:t>
            </a:r>
          </a:p>
          <a:p>
            <a:pPr lvl="1"/>
            <a:r>
              <a:rPr lang="sr-Latn-RS" dirty="0"/>
              <a:t>U ove pomoćne tabele se dodaju reči (tokeni)</a:t>
            </a:r>
          </a:p>
          <a:p>
            <a:r>
              <a:rPr lang="sr-Latn-RS" dirty="0"/>
              <a:t>6 tabela – paralelno upisivanje u indeks</a:t>
            </a:r>
          </a:p>
          <a:p>
            <a:pPr lvl="1"/>
            <a:r>
              <a:rPr lang="sr-Latn-RS" dirty="0"/>
              <a:t>Default 2 thread-a, može da se promeni</a:t>
            </a:r>
          </a:p>
          <a:p>
            <a:r>
              <a:rPr lang="sr-Latn-RS" dirty="0"/>
              <a:t>Pomoćne tabele: </a:t>
            </a:r>
          </a:p>
          <a:p>
            <a:pPr lvl="1"/>
            <a:r>
              <a:rPr lang="sr-Latn-RS" dirty="0"/>
              <a:t>Prefiks FTS</a:t>
            </a:r>
          </a:p>
          <a:p>
            <a:pPr lvl="1"/>
            <a:r>
              <a:rPr lang="sr-Latn-RS" dirty="0"/>
              <a:t>Postfiks INDEX_#</a:t>
            </a:r>
          </a:p>
          <a:p>
            <a:pPr lvl="1"/>
            <a:r>
              <a:rPr lang="sr-Latn-RS" dirty="0"/>
              <a:t>Između je heksadecimalna vrednost table_id</a:t>
            </a:r>
          </a:p>
          <a:p>
            <a:pPr marL="274320" lvl="1" indent="0">
              <a:buNone/>
            </a:pPr>
            <a:r>
              <a:rPr lang="sr-Latn-RS" dirty="0"/>
              <a:t>tabele nad kojom je fulltext indeks (68 -&gt; 0x44)</a:t>
            </a:r>
          </a:p>
          <a:p>
            <a:pPr lvl="1"/>
            <a:r>
              <a:rPr lang="sr-Latn-RS" dirty="0"/>
              <a:t>I heksadecimalna vrednost index_id tabele</a:t>
            </a:r>
            <a:br>
              <a:rPr lang="sr-Latn-RS" dirty="0"/>
            </a:br>
            <a:r>
              <a:rPr lang="sr-Latn-RS" dirty="0"/>
              <a:t>(106 -&gt; 0x6A)	</a:t>
            </a:r>
          </a:p>
          <a:p>
            <a:r>
              <a:rPr lang="sr-Latn-RS" dirty="0"/>
              <a:t>Ostale tabele su common tabele i koriste se</a:t>
            </a:r>
            <a:br>
              <a:rPr lang="sr-Latn-RS" dirty="0"/>
            </a:br>
            <a:r>
              <a:rPr lang="sr-Latn-RS" dirty="0"/>
              <a:t>za brisanje i čuvanje internog stanja</a:t>
            </a:r>
          </a:p>
          <a:p>
            <a:r>
              <a:rPr lang="sr-Latn-RS" dirty="0"/>
              <a:t>Keširanje novih reči, nakon toga batch upis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07986-FDFD-4E14-93F0-BF1F7EB213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08192" y="1942200"/>
            <a:ext cx="5931408" cy="3003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C4AD99-D458-44DF-BFE3-B4AC6EE5F9A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4999724"/>
            <a:ext cx="5943600" cy="188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7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EC1A-7195-4FB7-86A3-37343F6B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Razlike između MyISAM i InnoDB engine-a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D7B3-8D34-4B25-90EC-CAFCCF88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MyISAM</a:t>
            </a:r>
          </a:p>
          <a:p>
            <a:pPr lvl="1"/>
            <a:r>
              <a:rPr lang="sr-Latn-RS" dirty="0"/>
              <a:t>Svi indeksi u listovima imaju pointere na redove</a:t>
            </a:r>
          </a:p>
          <a:p>
            <a:pPr lvl="1"/>
            <a:r>
              <a:rPr lang="sr-Latn-RS" dirty="0"/>
              <a:t>Svi indeksi imaju istu strukturu, razlika samo u ograničenjima nad njima</a:t>
            </a:r>
          </a:p>
          <a:p>
            <a:pPr lvl="1"/>
            <a:r>
              <a:rPr lang="sr-Latn-RS" dirty="0"/>
              <a:t>Svako pretraživanje pokazuje na podatke, bez obzira da li je primarni ili sekundarni indeks</a:t>
            </a:r>
          </a:p>
          <a:p>
            <a:r>
              <a:rPr lang="sr-Latn-RS" dirty="0"/>
              <a:t>InnoDB</a:t>
            </a:r>
          </a:p>
          <a:p>
            <a:pPr lvl="1"/>
            <a:r>
              <a:rPr lang="sr-Latn-RS" dirty="0" err="1"/>
              <a:t>Klasterizovani</a:t>
            </a:r>
            <a:r>
              <a:rPr lang="sr-Latn-RS" dirty="0"/>
              <a:t> primarni indeks</a:t>
            </a:r>
          </a:p>
          <a:p>
            <a:pPr lvl="1"/>
            <a:r>
              <a:rPr lang="sr-Latn-RS" dirty="0"/>
              <a:t>Kreira skriveni primarni ključ ako nema nijednog kandidata za ključ</a:t>
            </a:r>
          </a:p>
          <a:p>
            <a:pPr lvl="1"/>
            <a:r>
              <a:rPr lang="sr-Latn-RS" dirty="0"/>
              <a:t>Čvorovi primarnog indeksa imaju sve podatke za traženi red</a:t>
            </a:r>
          </a:p>
          <a:p>
            <a:pPr lvl="1"/>
            <a:r>
              <a:rPr lang="sr-Latn-RS" dirty="0"/>
              <a:t>Sekundarni indeks čuva vrednost primarnog ključa</a:t>
            </a:r>
          </a:p>
          <a:p>
            <a:pPr lvl="1"/>
            <a:r>
              <a:rPr lang="sr-Latn-RS" dirty="0"/>
              <a:t>Podrazumevana veličina stranice indeksa 16KB (</a:t>
            </a:r>
            <a:r>
              <a:rPr lang="sr-Latn-RS" dirty="0" err="1"/>
              <a:t>innodb_page_size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Pri upisu se deo stranice ostavlja prazan</a:t>
            </a:r>
          </a:p>
          <a:p>
            <a:pPr lvl="1"/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75179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FA93-3240-45F2-B0B9-7FA97877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03300"/>
          </a:xfrm>
        </p:spPr>
        <p:txBody>
          <a:bodyPr/>
          <a:lstStyle/>
          <a:p>
            <a:r>
              <a:rPr lang="sr-Latn-RS" dirty="0" err="1"/>
              <a:t>Hash</a:t>
            </a:r>
            <a:r>
              <a:rPr lang="sr-Latn-RS" dirty="0"/>
              <a:t> indeksi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06F1-04E0-4A31-8202-D646916F0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47800"/>
            <a:ext cx="8595360" cy="4732337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Niz od N slotova, svaki sadrži pointer na red</a:t>
            </a:r>
          </a:p>
          <a:p>
            <a:r>
              <a:rPr lang="sr-Latn-RS" dirty="0"/>
              <a:t>Koriste se </a:t>
            </a:r>
            <a:r>
              <a:rPr lang="sr-Latn-RS" dirty="0" err="1"/>
              <a:t>heš</a:t>
            </a:r>
            <a:r>
              <a:rPr lang="sr-Latn-RS" dirty="0"/>
              <a:t> funkcije </a:t>
            </a:r>
            <a:r>
              <a:rPr lang="sr-Latn-R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F(K, N) ključ K i broj slotova N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Slotovi čuvaju memorijske adrese na kojima su podaci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Koriste se kod MEMORY engine-a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U njima su podaci kojima se često pristupa,</a:t>
            </a:r>
            <a:br>
              <a:rPr lang="sr-Latn-RS" dirty="0">
                <a:latin typeface="Times New Roman" panose="02020603050405020304" pitchFamily="18" charset="0"/>
              </a:rPr>
            </a:br>
            <a:r>
              <a:rPr lang="sr-Latn-RS" dirty="0">
                <a:latin typeface="Times New Roman" panose="02020603050405020304" pitchFamily="18" charset="0"/>
              </a:rPr>
              <a:t>uglavnom se vrši čitanje, retko ažuriranje</a:t>
            </a:r>
          </a:p>
          <a:p>
            <a:r>
              <a:rPr lang="sr-Latn-RS" dirty="0" err="1">
                <a:latin typeface="Times New Roman" panose="02020603050405020304" pitchFamily="18" charset="0"/>
              </a:rPr>
              <a:t>Heš</a:t>
            </a:r>
            <a:r>
              <a:rPr lang="sr-Latn-RS" dirty="0">
                <a:latin typeface="Times New Roman" panose="02020603050405020304" pitchFamily="18" charset="0"/>
              </a:rPr>
              <a:t> indeksi se koriste za operacije = i </a:t>
            </a:r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&lt;=&gt;</a:t>
            </a:r>
          </a:p>
          <a:p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Nema pretraživanja po opsegu</a:t>
            </a:r>
          </a:p>
          <a:p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Key – </a:t>
            </a:r>
            <a:r>
              <a:rPr lang="sr-Latn-RS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value</a:t>
            </a:r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sr-Latn-RS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stores</a:t>
            </a:r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 (sistemi za traženje samo</a:t>
            </a:r>
            <a:b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jedne vrednosti)</a:t>
            </a:r>
          </a:p>
          <a:p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Dinamičko </a:t>
            </a:r>
            <a:r>
              <a:rPr lang="sr-Latn-RS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heširanje</a:t>
            </a:r>
            <a:endParaRPr lang="sr-Latn-RS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sr-Latn-RS" dirty="0">
                <a:latin typeface="Times New Roman" panose="02020603050405020304" pitchFamily="18" charset="0"/>
                <a:sym typeface="Wingdings" panose="05000000000000000000" pitchFamily="2" charset="2"/>
              </a:rPr>
              <a:t>Brži za pretraživanje od B-stabla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38D38-F305-49FF-898E-AABF9371B3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08192" y="3570922"/>
            <a:ext cx="5943600" cy="30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9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8506-8D6C-4C9B-A022-B9B9C11A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Adaptivni </a:t>
            </a:r>
            <a:r>
              <a:rPr lang="sr-Latn-RS" dirty="0" err="1"/>
              <a:t>heš</a:t>
            </a:r>
            <a:r>
              <a:rPr lang="sr-Latn-RS" dirty="0"/>
              <a:t> indeks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1401-AF7C-4E65-9FA5-5C06E5326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InnoDB koristi za unutrašnju optimizaciju</a:t>
            </a:r>
          </a:p>
          <a:p>
            <a:r>
              <a:rPr lang="sr-Latn-RS" dirty="0"/>
              <a:t>In-</a:t>
            </a:r>
            <a:r>
              <a:rPr lang="sr-Latn-RS" dirty="0" err="1"/>
              <a:t>memory</a:t>
            </a:r>
            <a:r>
              <a:rPr lang="sr-Latn-RS" dirty="0"/>
              <a:t> baza podataka</a:t>
            </a:r>
          </a:p>
          <a:p>
            <a:r>
              <a:rPr lang="sr-Latn-RS" dirty="0"/>
              <a:t>Kreiranje može da se uključi i isključi (</a:t>
            </a:r>
            <a:r>
              <a:rPr lang="sr-Latn-R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innodb_adaptive_hash_index</a:t>
            </a:r>
            <a:r>
              <a:rPr lang="sr-Latn-R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Kreira se na osnovu prethodnih pretraživanja po bazi, koristi neki prefiks ključa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Pravi se po zahtevu za stranice indeksa kojima se često pristupa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Treba pratiti da li ovaj indeks dovodi do pogoršanja ili poboljšanja performansi (</a:t>
            </a:r>
            <a:r>
              <a:rPr lang="sr-Latn-RS" dirty="0" err="1">
                <a:latin typeface="Times New Roman" panose="02020603050405020304" pitchFamily="18" charset="0"/>
              </a:rPr>
              <a:t>benchmark</a:t>
            </a:r>
            <a:r>
              <a:rPr lang="sr-Latn-RS" dirty="0">
                <a:latin typeface="Times New Roman" panose="02020603050405020304" pitchFamily="18" charset="0"/>
              </a:rPr>
              <a:t> testiranja)</a:t>
            </a:r>
          </a:p>
          <a:p>
            <a:r>
              <a:rPr lang="sr-Latn-RS" dirty="0">
                <a:latin typeface="Times New Roman" panose="02020603050405020304" pitchFamily="18" charset="0"/>
              </a:rPr>
              <a:t>Od MySQL 5.7 ovaj indeks je </a:t>
            </a:r>
            <a:r>
              <a:rPr lang="sr-Latn-RS" dirty="0" err="1">
                <a:latin typeface="Times New Roman" panose="02020603050405020304" pitchFamily="18" charset="0"/>
              </a:rPr>
              <a:t>particionisan</a:t>
            </a:r>
            <a:r>
              <a:rPr lang="sr-Latn-RS" dirty="0">
                <a:latin typeface="Times New Roman" panose="02020603050405020304" pitchFamily="18" charset="0"/>
              </a:rPr>
              <a:t> – svaka particija ima svoj mehanizam zaključavanja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52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2664-DC5F-40AE-B940-509A9071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R-stabla i </a:t>
            </a:r>
            <a:r>
              <a:rPr lang="sr-Latn-RS" dirty="0" err="1"/>
              <a:t>spatial</a:t>
            </a:r>
            <a:r>
              <a:rPr lang="sr-Latn-RS" dirty="0"/>
              <a:t> indeksi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8CCFF8-0A92-438D-927E-F273EEE7246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2822" y="518797"/>
            <a:ext cx="3810000" cy="326707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227786-39A5-429C-A261-9E36A9CB08B2}"/>
              </a:ext>
            </a:extLst>
          </p:cNvPr>
          <p:cNvSpPr txBox="1"/>
          <p:nvPr/>
        </p:nvSpPr>
        <p:spPr>
          <a:xfrm>
            <a:off x="719667" y="1799167"/>
            <a:ext cx="805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Strukture podataka za manipulaciju prostornim podacima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/>
              <a:t>Geografske koordinate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/>
              <a:t>Poligoni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r-Latn-RS" dirty="0"/>
              <a:t>Pravougaonici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Grupisanje podataka koji su blizu jedan drugom i predstavljanje</a:t>
            </a:r>
            <a:br>
              <a:rPr lang="sr-Latn-RS" dirty="0"/>
            </a:br>
            <a:r>
              <a:rPr lang="sr-Latn-RS" dirty="0"/>
              <a:t>preko minimalnog pravougaonika koji sadrži sve te objekte</a:t>
            </a:r>
            <a:br>
              <a:rPr lang="sr-Latn-RS" dirty="0"/>
            </a:br>
            <a:r>
              <a:rPr lang="sr-Latn-RS" dirty="0"/>
              <a:t>(minimum </a:t>
            </a:r>
            <a:r>
              <a:rPr lang="sr-Latn-RS" dirty="0" err="1"/>
              <a:t>bounding</a:t>
            </a:r>
            <a:r>
              <a:rPr lang="sr-Latn-RS" dirty="0"/>
              <a:t> </a:t>
            </a:r>
            <a:r>
              <a:rPr lang="sr-Latn-RS" dirty="0" err="1"/>
              <a:t>rectangle</a:t>
            </a:r>
            <a:r>
              <a:rPr lang="sr-Latn-R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Balansirano stablo, organizuje podatke po stranicama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Novi element se ubacuje u </a:t>
            </a:r>
            <a:r>
              <a:rPr lang="sr-Latn-RS" dirty="0" err="1"/>
              <a:t>podstablo</a:t>
            </a:r>
            <a:r>
              <a:rPr lang="sr-Latn-RS" dirty="0"/>
              <a:t> koje zahteva najmanje proširenje </a:t>
            </a:r>
            <a:r>
              <a:rPr lang="sr-Latn-RS" dirty="0" err="1"/>
              <a:t>bounding</a:t>
            </a:r>
            <a:r>
              <a:rPr lang="sr-Latn-RS" dirty="0"/>
              <a:t> </a:t>
            </a:r>
            <a:r>
              <a:rPr lang="sr-Latn-RS" dirty="0" err="1"/>
              <a:t>box</a:t>
            </a:r>
            <a:r>
              <a:rPr lang="sr-Latn-RS" dirty="0"/>
              <a:t>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Kada se stranica napuni, podaci se dele na dva skupa tako da prekrivaju najmanje oblasti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MyISAM, InnoDB, NDB i ARCHIVE skladišta podataka podržavaju prostorne kolone, ali samo se kod </a:t>
            </a:r>
            <a:r>
              <a:rPr lang="sr-Latn-R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InnoDN</a:t>
            </a:r>
            <a:r>
              <a:rPr lang="sr-Latn-R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 MyISAM koriste prostorni indeksi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Times New Roman" panose="02020603050405020304" pitchFamily="18" charset="0"/>
              </a:rPr>
              <a:t>Indeks se sastoji od samo jedne prostorne kolone, mora da bude NOT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latin typeface="Times New Roman" panose="02020603050405020304" pitchFamily="18" charset="0"/>
              </a:rPr>
              <a:t>Nisu dozvoljeni za primarni ključ</a:t>
            </a:r>
            <a:endParaRPr lang="sr-Latn-R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BAFAB-00CD-4348-AC82-9228F6ED748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19472" y="6118694"/>
            <a:ext cx="39433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1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F756D2-D75B-40C0-A1A2-73547200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HVALA NA PAŽNJI !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B082F-EC7B-41D8-9716-2AD1DA9E5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sr-Latn-RS" sz="2800" dirty="0"/>
              <a:t>Pitanja 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617993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216</TotalTime>
  <Words>737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Schoolbook</vt:lpstr>
      <vt:lpstr>Times New Roman</vt:lpstr>
      <vt:lpstr>Wingdings 2</vt:lpstr>
      <vt:lpstr>View</vt:lpstr>
      <vt:lpstr>Interna struktura i organizacija indeksa kod MySQL-a </vt:lpstr>
      <vt:lpstr>UVOD</vt:lpstr>
      <vt:lpstr>Kako MySQL koristi indekse</vt:lpstr>
      <vt:lpstr>B-stabla</vt:lpstr>
      <vt:lpstr>Index,  unique,  primary key</vt:lpstr>
      <vt:lpstr>Full-Text indeks</vt:lpstr>
      <vt:lpstr>Full-text u InnoDB</vt:lpstr>
      <vt:lpstr>Razlike između MyISAM i InnoDB engine-a</vt:lpstr>
      <vt:lpstr>Hash indeksi</vt:lpstr>
      <vt:lpstr>Adaptivni heš indeks</vt:lpstr>
      <vt:lpstr>R-stabla i spatial indeksi</vt:lpstr>
      <vt:lpstr>HVALA NA PAŽNJI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i organizacija indeksa kod MySQL-a </dc:title>
  <dc:creator>Zivkovic, Mirjana (RS)</dc:creator>
  <cp:lastModifiedBy>Zivkovic, Mirjana (RS)</cp:lastModifiedBy>
  <cp:revision>16</cp:revision>
  <dcterms:created xsi:type="dcterms:W3CDTF">2021-04-14T11:59:04Z</dcterms:created>
  <dcterms:modified xsi:type="dcterms:W3CDTF">2021-04-14T15:35:52Z</dcterms:modified>
</cp:coreProperties>
</file>